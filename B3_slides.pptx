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3"/>
  </p:sldMasterIdLst>
  <p:notesMasterIdLst>
    <p:notesMasterId r:id="rId4"/>
  </p:notesMasterIdLst>
  <p:sldIdLst>
    <p:sldId id="256" r:id="rId13"/>
    <p:sldId id="257" r:id="rId12"/>
    <p:sldId id="258" r:id="rId11"/>
    <p:sldId id="259" r:id="rId10"/>
    <p:sldId id="260" r:id="rId9"/>
    <p:sldId id="261" r:id="rId8"/>
    <p:sldId id="262" r:id="rId7"/>
    <p:sldId id="263" r:id="rId6"/>
  </p:sldIdLst>
  <p:sldSz cy="6858000" cx="12192000"/>
  <p:notesSz cx="6858000" cy="9144000"/>
  <p:embeddedFontLst>
    <p:embeddedFont>
      <p:font typeface="Inter SemiBold"/>
      <p:regular r:id="rId14"/>
      <p:bold r:id="rId15"/>
      <p:italic r:id="rId16"/>
      <p:boldItalic r:id="rId17"/>
    </p:embeddedFont>
    <p:embeddedFont>
      <p:font typeface="Inter"/>
      <p:bold r:id="rId18"/>
      <p:boldItalic r:id="rId19"/>
    </p:embeddedFont>
    <p:embeddedFont>
      <p:font typeface="Fira Code SemiBold"/>
      <p:regular r:id="rId20"/>
      <p:bold r:id="rId21"/>
    </p:embeddedFont>
    <p:embeddedFont>
      <p:font typeface="Helvetica Neue"/>
      <p:regular r:id="rId22"/>
      <p:bold r:id="rId23"/>
      <p:italic r:id="rId24"/>
      <p:boldItalic r:id="rId25"/>
    </p:embeddedFont>
    <p:embeddedFont>
      <p:font typeface="Fira Code"/>
      <p:regular r:id="rId26"/>
      <p:bold r:id="rId27"/>
    </p:embeddedFont>
    <p:embeddedFont>
      <p:font typeface="Roboto Mono"/>
      <p:regular r:id="rId28"/>
      <p:bold r:id="rId29"/>
      <p:italic r:id="rId30"/>
      <p:boldItalic r:id="rId31"/>
    </p:embeddedFont>
    <p:embeddedFont>
      <p:font typeface="Inter Medium"/>
      <p:regular r:id="rId32"/>
      <p:bold r:id="rId33"/>
      <p:italic r:id="rId34"/>
      <p:boldItalic r:id="rId35"/>
    </p:embeddedFont>
    <p:embeddedFont>
      <p:font typeface="Open Sans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6" Type="http://schemas.openxmlformats.org/officeDocument/2006/relationships/slide" Target="slides/slide8.xml"/><Relationship Id="rId7" Type="http://schemas.openxmlformats.org/officeDocument/2006/relationships/slide" Target="slides/slide7.xml"/><Relationship Id="rId8" Type="http://schemas.openxmlformats.org/officeDocument/2006/relationships/slide" Target="slides/slide6.xml"/><Relationship Id="rId9" Type="http://schemas.openxmlformats.org/officeDocument/2006/relationships/slide" Target="slides/slide5.xml"/><Relationship Id="rId10" Type="http://schemas.openxmlformats.org/officeDocument/2006/relationships/slide" Target="slides/slide4.xml"/><Relationship Id="rId11" Type="http://schemas.openxmlformats.org/officeDocument/2006/relationships/slide" Target="slides/slide3.xml"/><Relationship Id="rId12" Type="http://schemas.openxmlformats.org/officeDocument/2006/relationships/slide" Target="slides/slide2.xml"/><Relationship Id="rId13" Type="http://schemas.openxmlformats.org/officeDocument/2006/relationships/slide" Target="slides/slide1.xml"/><Relationship Id="rId14" Type="http://schemas.openxmlformats.org/officeDocument/2006/relationships/font" Target="fonts/InterSemiBold-regular.fntdata"/><Relationship Id="rId15" Type="http://schemas.openxmlformats.org/officeDocument/2006/relationships/font" Target="fonts/InterSemiBold-bold.fntdata"/><Relationship Id="rId16" Type="http://schemas.openxmlformats.org/officeDocument/2006/relationships/font" Target="fonts/InterSemiBold-italic.fntdata"/><Relationship Id="rId17" Type="http://schemas.openxmlformats.org/officeDocument/2006/relationships/font" Target="fonts/InterSemiBold-boldItalic.fntdata"/><Relationship Id="rId18" Type="http://schemas.openxmlformats.org/officeDocument/2006/relationships/font" Target="fonts/Inter-bold.fntdata"/><Relationship Id="rId19" Type="http://schemas.openxmlformats.org/officeDocument/2006/relationships/font" Target="fonts/Inter-boldItalic.fntdata"/><Relationship Id="rId20" Type="http://schemas.openxmlformats.org/officeDocument/2006/relationships/font" Target="fonts/FiraCodeSemiBold-regular.fntdata"/><Relationship Id="rId21" Type="http://schemas.openxmlformats.org/officeDocument/2006/relationships/font" Target="fonts/FiraCodeSemiBold-bold.fntdata"/><Relationship Id="rId22" Type="http://schemas.openxmlformats.org/officeDocument/2006/relationships/font" Target="fonts/HelveticaNeue-regular.fntdata"/><Relationship Id="rId23" Type="http://schemas.openxmlformats.org/officeDocument/2006/relationships/font" Target="fonts/HelveticaNeue-bold.fntdata"/><Relationship Id="rId24" Type="http://schemas.openxmlformats.org/officeDocument/2006/relationships/font" Target="fonts/HelveticaNeue-italic.fntdata"/><Relationship Id="rId25" Type="http://schemas.openxmlformats.org/officeDocument/2006/relationships/font" Target="fonts/HelveticaNeue-boldItalic.fntdata"/><Relationship Id="rId26" Type="http://schemas.openxmlformats.org/officeDocument/2006/relationships/font" Target="fonts/FiraCode-regular.fntdata"/><Relationship Id="rId27" Type="http://schemas.openxmlformats.org/officeDocument/2006/relationships/font" Target="fonts/FiraCode-bold.fntdata"/><Relationship Id="rId28" Type="http://schemas.openxmlformats.org/officeDocument/2006/relationships/font" Target="fonts/RobotoMono-regular.fntdata"/><Relationship Id="rId29" Type="http://schemas.openxmlformats.org/officeDocument/2006/relationships/font" Target="fonts/RobotoMono-bold.fntdata"/><Relationship Id="rId30" Type="http://schemas.openxmlformats.org/officeDocument/2006/relationships/font" Target="fonts/RobotoMono-italic.fntdata"/><Relationship Id="rId31" Type="http://schemas.openxmlformats.org/officeDocument/2006/relationships/font" Target="fonts/RobotoMono-boldItalic.fntdata"/><Relationship Id="rId32" Type="http://schemas.openxmlformats.org/officeDocument/2006/relationships/font" Target="fonts/InterMedium-regular.fntdata"/><Relationship Id="rId33" Type="http://schemas.openxmlformats.org/officeDocument/2006/relationships/font" Target="fonts/InterMedium-bold.fntdata"/><Relationship Id="rId34" Type="http://schemas.openxmlformats.org/officeDocument/2006/relationships/font" Target="fonts/InterMedium-italic.fntdata"/><Relationship Id="rId35" Type="http://schemas.openxmlformats.org/officeDocument/2006/relationships/font" Target="fonts/InterMedium-boldItalic.fntdata"/><Relationship Id="rId36" Type="http://schemas.openxmlformats.org/officeDocument/2006/relationships/font" Target="fonts/OpenSans-regular.fntdata"/><Relationship Id="rId37" Type="http://schemas.openxmlformats.org/officeDocument/2006/relationships/font" Target="fonts/OpenSans-bold.fntdata"/><Relationship Id="rId38" Type="http://schemas.openxmlformats.org/officeDocument/2006/relationships/font" Target="fonts/OpenSans-italic.fntdata"/><Relationship Id="rId39" Type="http://schemas.openxmlformats.org/officeDocument/2006/relationships/font" Target="fonts/OpenSans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"This hypothesis was in our interim. The final monitor puts it into practice."</a:t>
            </a:r>
          </a:p>
          <a:p/>
          <a:p>
            <a:r>
              <a:t>(~30 seconds)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"We revised the experiment rather than forcing the original explanation to fit."</a:t>
            </a:r>
          </a:p>
          <a:p/>
          <a:p>
            <a:r>
              <a:t>(~45-50 seconds)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Don't walk through each cutoff. Shorthand:</a:t>
            </a:r>
          </a:p>
          <a:p>
            <a:r>
              <a:t>- Feature-only drift -&gt; LOW</a:t>
            </a:r>
          </a:p>
          <a:p>
            <a:r>
              <a:t>- Score/output drift or moderate alert movement -&gt; MEDIUM</a:t>
            </a:r>
          </a:p>
          <a:p>
            <a:r>
              <a:t>- Major alert-volume disruption -&gt; HIGH</a:t>
            </a:r>
          </a:p>
          <a:p/>
          <a:p>
            <a:r>
              <a:t>Then go straight to S1 versus S2/S3. Exact cutoffs are for Q&amp;A.</a:t>
            </a:r>
          </a:p>
          <a:p/>
          <a:p>
            <a:r>
              <a:t>"Both S1 and S2 show statistical drift, but in S1 the model's output and alert workload barely move, while in S2 alerts jump from 13.5% to 78.3%. That is why raw drift alone is not enough for an operational decision."</a:t>
            </a:r>
          </a:p>
          <a:p/>
          <a:p>
            <a:r>
              <a:t>S3: "The service remains HEALTHY while alerts collapse from 45.9% to 1.8%."</a:t>
            </a:r>
          </a:p>
          <a:p/>
          <a:p>
            <a:r>
              <a:t>(~60-70 seconds)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(~35-40 seconds)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b="0" i="0" sz="6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ctr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" name="Google Shape;16;p2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9pPr>
          </a:lstStyle>
          <a:p/>
        </p:txBody>
      </p:sp>
      <p:sp>
        <p:nvSpPr>
          <p:cNvPr id="20" name="Google Shape;20;p3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925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925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925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925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925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925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" name="Google Shape;21;p3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" name="Google Shape;23;p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/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b="0" i="0" sz="6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7" name="Google Shape;27;p4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" name="Google Shape;28;p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925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925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925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925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925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925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925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925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925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925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925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925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5" name="Google Shape;35;p5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6" name="Google Shape;36;p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/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9pPr>
          </a:lstStyle>
          <a:p/>
        </p:txBody>
      </p:sp>
      <p:sp>
        <p:nvSpPr>
          <p:cNvPr id="39" name="Google Shape;39;p6"/>
          <p:cNvSpPr txBox="1"/>
          <p:nvPr>
            <p:ph idx="1" type="body"/>
          </p:nvPr>
        </p:nvSpPr>
        <p:spPr>
          <a:xfrm>
            <a:off x="839788" y="1681163"/>
            <a:ext cx="5157900" cy="824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  <a:defRPr b="1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0" name="Google Shape;40;p6"/>
          <p:cNvSpPr txBox="1"/>
          <p:nvPr>
            <p:ph idx="2" type="body"/>
          </p:nvPr>
        </p:nvSpPr>
        <p:spPr>
          <a:xfrm>
            <a:off x="839788" y="2505075"/>
            <a:ext cx="5157900" cy="36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925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925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925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925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925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925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1" name="Google Shape;41;p6"/>
          <p:cNvSpPr txBox="1"/>
          <p:nvPr>
            <p:ph idx="3" type="body"/>
          </p:nvPr>
        </p:nvSpPr>
        <p:spPr>
          <a:xfrm>
            <a:off x="6172200" y="1681163"/>
            <a:ext cx="5183100" cy="824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  <a:defRPr b="1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2" name="Google Shape;42;p6"/>
          <p:cNvSpPr txBox="1"/>
          <p:nvPr>
            <p:ph idx="4" type="body"/>
          </p:nvPr>
        </p:nvSpPr>
        <p:spPr>
          <a:xfrm>
            <a:off x="6172200" y="2505075"/>
            <a:ext cx="5183100" cy="36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925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925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925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925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925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925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3" name="Google Shape;43;p6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" name="Google Shape;44;p6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9pPr>
          </a:lstStyle>
          <a:p/>
        </p:txBody>
      </p:sp>
      <p:sp>
        <p:nvSpPr>
          <p:cNvPr id="48" name="Google Shape;48;p7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7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0" name="Google Shape;50;p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8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 txBox="1"/>
          <p:nvPr>
            <p:ph type="title"/>
          </p:nvPr>
        </p:nvSpPr>
        <p:spPr>
          <a:xfrm>
            <a:off x="839788" y="457200"/>
            <a:ext cx="3932100" cy="1600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9pPr>
          </a:lstStyle>
          <a:p/>
        </p:txBody>
      </p:sp>
      <p:sp>
        <p:nvSpPr>
          <p:cNvPr id="57" name="Google Shape;57;p9"/>
          <p:cNvSpPr txBox="1"/>
          <p:nvPr>
            <p:ph idx="1" type="body"/>
          </p:nvPr>
        </p:nvSpPr>
        <p:spPr>
          <a:xfrm>
            <a:off x="5183188" y="987425"/>
            <a:ext cx="61725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31800" lvl="0" marL="457200" marR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8" name="Google Shape;58;p9"/>
          <p:cNvSpPr txBox="1"/>
          <p:nvPr>
            <p:ph idx="2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9" name="Google Shape;59;p9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0" name="Google Shape;60;p9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1" name="Google Shape;61;p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 txBox="1"/>
          <p:nvPr>
            <p:ph type="title"/>
          </p:nvPr>
        </p:nvSpPr>
        <p:spPr>
          <a:xfrm>
            <a:off x="839788" y="457200"/>
            <a:ext cx="3932100" cy="1600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9pPr>
          </a:lstStyle>
          <a:p/>
        </p:txBody>
      </p:sp>
      <p:sp>
        <p:nvSpPr>
          <p:cNvPr id="64" name="Google Shape;64;p10"/>
          <p:cNvSpPr/>
          <p:nvPr>
            <p:ph idx="2" type="pic"/>
          </p:nvPr>
        </p:nvSpPr>
        <p:spPr>
          <a:xfrm>
            <a:off x="5183188" y="987425"/>
            <a:ext cx="61725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5" name="Google Shape;65;p10"/>
          <p:cNvSpPr txBox="1"/>
          <p:nvPr>
            <p:ph idx="1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6" name="Google Shape;66;p1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7" name="Google Shape;67;p1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9pPr>
          </a:lstStyle>
          <a:p/>
        </p:txBody>
      </p:sp>
      <p:sp>
        <p:nvSpPr>
          <p:cNvPr id="71" name="Google Shape;71;p11"/>
          <p:cNvSpPr txBox="1"/>
          <p:nvPr>
            <p:ph idx="1" type="body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925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925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925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925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925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925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2" name="Google Shape;72;p11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3" name="Google Shape;73;p11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4" name="Google Shape;74;p1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2"/>
          <p:cNvSpPr txBox="1"/>
          <p:nvPr>
            <p:ph type="title"/>
          </p:nvPr>
        </p:nvSpPr>
        <p:spPr>
          <a:xfrm rot="5400000">
            <a:off x="7133400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9pPr>
          </a:lstStyle>
          <a:p/>
        </p:txBody>
      </p:sp>
      <p:sp>
        <p:nvSpPr>
          <p:cNvPr id="77" name="Google Shape;77;p12"/>
          <p:cNvSpPr txBox="1"/>
          <p:nvPr>
            <p:ph idx="1" type="body"/>
          </p:nvPr>
        </p:nvSpPr>
        <p:spPr>
          <a:xfrm rot="5400000">
            <a:off x="1799400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925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925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925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925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925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925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8" name="Google Shape;78;p12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9" name="Google Shape;79;p12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 Slide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3"/>
          <p:cNvSpPr txBox="1"/>
          <p:nvPr>
            <p:ph type="ctrTitle"/>
          </p:nvPr>
        </p:nvSpPr>
        <p:spPr>
          <a:xfrm>
            <a:off x="838200" y="0"/>
            <a:ext cx="10515600" cy="20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4400"/>
              <a:buFont typeface="Calibri"/>
              <a:buNone/>
              <a:defRPr b="0" i="0" sz="4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1" type="subTitle"/>
          </p:nvPr>
        </p:nvSpPr>
        <p:spPr>
          <a:xfrm>
            <a:off x="838200" y="2138362"/>
            <a:ext cx="105156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2400"/>
              <a:buNone/>
              <a:defRPr b="1" i="0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84" name="Google Shape;84;p13"/>
          <p:cNvSpPr txBox="1"/>
          <p:nvPr>
            <p:ph idx="2" type="body"/>
          </p:nvPr>
        </p:nvSpPr>
        <p:spPr>
          <a:xfrm>
            <a:off x="838200" y="2743201"/>
            <a:ext cx="10515600" cy="29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Calibri"/>
              <a:buNone/>
              <a:defRPr sz="18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Calibri"/>
              <a:buNone/>
              <a:defRPr sz="18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Calibri"/>
              <a:buNone/>
              <a:defRPr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Calibri"/>
              <a:buNone/>
              <a:defRPr sz="18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Calibri"/>
              <a:buNone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5" name="Google Shape;85;p13"/>
          <p:cNvSpPr txBox="1"/>
          <p:nvPr>
            <p:ph idx="12" type="sldNum"/>
          </p:nvPr>
        </p:nvSpPr>
        <p:spPr>
          <a:xfrm>
            <a:off x="522044" y="631600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5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925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925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925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925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925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925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" name="Google Shape;11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2182976" cy="68580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B1B1B"/>
                </a:solidFill>
                <a:latin typeface="Open Sans"/>
              </a:rPr>
              <a:t>B3: It's running. Is it still working?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2A78D6"/>
                </a:solidFill>
                <a:latin typeface="Calibri"/>
              </a:rPr>
              <a:t>A healthy service does not mean the AI is behaving appropriately.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83080"/>
            <a:ext cx="11247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1B1B1B"/>
                </a:solidFill>
                <a:latin typeface="Calibri"/>
              </a:rPr>
              <a:t>• Every scenario: 0 API errors, Tier 1 HEALTHY, model loaded.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1B1B1B"/>
                </a:solidFill>
                <a:latin typeface="Calibri"/>
              </a:rPr>
              <a:t>• But the model alerts on 45.9% of rows while 7.3% are spikes; precision at the 0.5 alert threshold is 6.4%.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429000"/>
            <a:ext cx="11247120" cy="1417320"/>
          </a:xfrm>
          <a:prstGeom prst="roundRect">
            <a:avLst>
              <a:gd name="adj" fmla="val 5000"/>
            </a:avLst>
          </a:prstGeom>
          <a:solidFill>
            <a:srgbClr val="EE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3547872"/>
            <a:ext cx="107899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 b="1">
                <a:solidFill>
                  <a:srgbClr val="1B1B1B"/>
                </a:solidFill>
                <a:latin typeface="Calibri"/>
              </a:rPr>
              <a:t>Core interim hypothesis, which survived: </a:t>
            </a:r>
            <a:r>
              <a:rPr sz="1900" b="0">
                <a:solidFill>
                  <a:srgbClr val="1B1B1B"/>
                </a:solidFill>
                <a:latin typeface="Calibri"/>
              </a:rPr>
              <a:t>health checks and raw feature-drift tests alone can't tell you whether the AI still works. Monitor serving health, data/prediction drift and labeled performance separately. Feature drift means investigate, not retrain.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749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C0392B"/>
                </a:solidFill>
                <a:latin typeface="Calibri"/>
              </a:rPr>
              <a:t>What changed: </a:t>
            </a:r>
            <a:r>
              <a:rPr sz="2000" b="0">
                <a:solidFill>
                  <a:srgbClr val="1B1B1B"/>
                </a:solidFill>
                <a:latin typeface="Calibri"/>
              </a:rPr>
              <a:t>our interpretation of the split-half evidence, not the hypothesis.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B1B1B"/>
                </a:solidFill>
                <a:latin typeface="Open Sans"/>
              </a:rPr>
              <a:t>Diagnosis: Alerts follow trade intensity, not spikes</a:t>
            </a:r>
          </a:p>
        </p:txBody>
      </p:sp>
      <p:pic>
        <p:nvPicPr>
          <p:cNvPr id="3" name="Picture 2" descr="fig_a_diagnos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960120"/>
            <a:ext cx="7772400" cy="42100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20040" y="521208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555555"/>
                </a:solidFill>
                <a:latin typeface="Calibri"/>
              </a:rPr>
              <a:t>Model alerts rise with trade intensity; actual spikes do not.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75320" y="1051560"/>
            <a:ext cx="36576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50" b="0">
                <a:solidFill>
                  <a:srgbClr val="1B1B1B"/>
                </a:solidFill>
                <a:latin typeface="Calibri"/>
              </a:rPr>
              <a:t>• PR-AUC 0.070 vs prevalence 0.073 on the reference window: above-baseline performance is not established on the available data.</a:t>
            </a:r>
          </a:p>
          <a:p>
            <a:pPr>
              <a:spcAft>
                <a:spcPts val="600"/>
              </a:spcAft>
            </a:pPr>
            <a:r>
              <a:rPr sz="1350" b="0">
                <a:solidFill>
                  <a:srgbClr val="1B1B1B"/>
                </a:solidFill>
                <a:latin typeface="Calibri"/>
              </a:rPr>
              <a:t>• Score vs trade intensity r = 0.80; score vs the actual spike label r = 0.006.</a:t>
            </a:r>
          </a:p>
          <a:p>
            <a:pPr>
              <a:spcAft>
                <a:spcPts val="600"/>
              </a:spcAft>
            </a:pPr>
            <a:r>
              <a:rPr sz="1350" b="0">
                <a:solidFill>
                  <a:srgbClr val="1B1B1B"/>
                </a:solidFill>
                <a:latin typeface="Calibri"/>
              </a:rPr>
              <a:t>• The recording has a 171 s gap. Trade intensity is a rolling 60 s count, so it refills afterwards (167 in the first 60 s after the gap, 305 later). The message rate is about the same: 4.92 vs 4.74 msg/s.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Interim correction: </a:t>
            </a:r>
            <a:r>
              <a:rPr sz="1350" b="0">
                <a:solidFill>
                  <a:srgbClr val="1B1B1B"/>
                </a:solidFill>
                <a:latin typeface="Calibri"/>
              </a:rPr>
              <a:t>we had used the split-half comparison as a no-change control and called its flags a false alarm. It is a real change: alerts 13.5% to 78.3% while spikes are 6.1% vs 8.5%. It became S2; the new control is the interleaved split (S0).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B1B1B"/>
                </a:solidFill>
                <a:latin typeface="Open Sans"/>
              </a:rPr>
              <a:t>Intervention and evidence</a:t>
            </a:r>
          </a:p>
        </p:txBody>
      </p:sp>
      <p:pic>
        <p:nvPicPr>
          <p:cNvPr id="3" name="Picture 2" descr="fig_b_valid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68680"/>
            <a:ext cx="8001000" cy="369276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4526280"/>
            <a:ext cx="8001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555555"/>
                </a:solidFill>
                <a:latin typeface="Calibri"/>
              </a:rPr>
              <a:t>Raw drift flags do not show consequence; model-output impact separates S1 from S2/S3.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778240" y="960120"/>
            <a:ext cx="3154680" cy="3657600"/>
          </a:xfrm>
          <a:prstGeom prst="roundRect">
            <a:avLst>
              <a:gd name="adj" fmla="val 5000"/>
            </a:avLst>
          </a:prstGeom>
          <a:solidFill>
            <a:srgbClr val="EE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15400" y="1024128"/>
            <a:ext cx="29260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2A78D6"/>
                </a:solidFill>
                <a:latin typeface="Calibri"/>
              </a:rPr>
              <a:t>Tiered monitor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1B1B1B"/>
                </a:solidFill>
                <a:latin typeface="Calibri"/>
              </a:rPr>
              <a:t>Tier 1, serving status: </a:t>
            </a:r>
            <a:r>
              <a:rPr sz="1200" b="0">
                <a:solidFill>
                  <a:srgbClr val="1B1B1B"/>
                </a:solidFill>
                <a:latin typeface="Calibri"/>
              </a:rPr>
              <a:t>HEALTHY / DEGRADED / UNAVAILABLE. PAGE only for serving unavailability.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1B1B1B"/>
                </a:solidFill>
                <a:latin typeface="Calibri"/>
              </a:rPr>
              <a:t>Tier 2, drift graded by impact: </a:t>
            </a:r>
            <a:r>
              <a:rPr sz="1200" b="0">
                <a:solidFill>
                  <a:srgbClr val="1B1B1B"/>
                </a:solidFill>
                <a:latin typeface="Calibri"/>
              </a:rPr>
              <a:t>LOW = feature drift only; MEDIUM = score PSI &gt;= 0.10 or alert shift &gt; 5 pp; HIGH = alert rate x2 or /2, or shift &gt;= 20 pp.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1B1B1B"/>
                </a:solidFill>
                <a:latin typeface="Calibri"/>
              </a:rPr>
              <a:t>Tier 3, separate and retrospective: </a:t>
            </a:r>
            <a:r>
              <a:rPr sz="1200" b="0">
                <a:solidFill>
                  <a:srgbClr val="1B1B1B"/>
                </a:solidFill>
                <a:latin typeface="Calibri"/>
              </a:rPr>
              <a:t>PR-AUC vs prevalence. Never sets severity.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0" y="466344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555555"/>
                </a:solidFill>
                <a:latin typeface="Calibri"/>
              </a:rPr>
              <a:t>5 pp / 20 pp / 2x are project-specific operating thresholds.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0" y="5120640"/>
            <a:ext cx="3154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555555"/>
                </a:solidFill>
                <a:latin typeface="Calibri"/>
              </a:rPr>
              <a:t>S0 (odd vs even rows): KS 0/4, monitor OK. No change; stays quiet.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74320" y="4773168"/>
          <a:ext cx="832104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"/>
                <a:gridCol w="1188720"/>
                <a:gridCol w="822960"/>
                <a:gridCol w="5897880"/>
              </a:tblGrid>
              <a:tr h="228600">
                <a:tc>
                  <a:txBody>
                    <a:bodyPr/>
                    <a:lstStyle/>
                    <a:p/>
                  </a:txBody>
                  <a:tcPr marL="54864" marR="54864" marT="18288" marB="18288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B1B1B"/>
                          </a:solidFill>
                          <a:latin typeface="Calibri"/>
                        </a:rPr>
                        <a:t>KS before view</a:t>
                      </a:r>
                    </a:p>
                  </a:txBody>
                  <a:tcPr marL="54864" marR="54864" marT="18288" marB="18288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B1B1B"/>
                          </a:solidFill>
                          <a:latin typeface="Calibri"/>
                        </a:rPr>
                        <a:t>Monitor</a:t>
                      </a:r>
                    </a:p>
                  </a:txBody>
                  <a:tcPr marL="54864" marR="54864" marT="18288" marB="18288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B1B1B"/>
                          </a:solidFill>
                          <a:latin typeface="Calibri"/>
                        </a:rPr>
                        <a:t>Why</a:t>
                      </a:r>
                    </a:p>
                  </a:txBody>
                  <a:tcPr marL="54864" marR="54864" marT="18288" marB="18288">
                    <a:solidFill>
                      <a:srgbClr val="EEF3FA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S1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1/4 (p≈0)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8B21D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Spread PSI 8.2, but score PSI 0.005 and alerts 45.9% to 46.2%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S2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3/4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D03B3B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Alerts 13.5% to 78.3%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S3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2/4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D03B3B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B1B"/>
                          </a:solidFill>
                          <a:latin typeface="Calibri"/>
                        </a:rPr>
                        <a:t>Alerts 45.9% to 1.8%, with the service HEALTHY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B1B1B"/>
                </a:solidFill>
                <a:latin typeface="Open Sans"/>
              </a:rPr>
              <a:t>How far to trust it, and what to do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51560"/>
            <a:ext cx="3611880" cy="4572000"/>
          </a:xfrm>
          <a:prstGeom prst="roundRect">
            <a:avLst>
              <a:gd name="adj" fmla="val 5000"/>
            </a:avLst>
          </a:prstGeom>
          <a:solidFill>
            <a:srgbClr val="EE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3246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What we know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70248" y="1051560"/>
            <a:ext cx="3611880" cy="4572000"/>
          </a:xfrm>
          <a:prstGeom prst="roundRect">
            <a:avLst>
              <a:gd name="adj" fmla="val 5000"/>
            </a:avLst>
          </a:prstGeom>
          <a:solidFill>
            <a:srgbClr val="EE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453128" y="1143000"/>
            <a:ext cx="3246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C0392B"/>
                </a:solidFill>
                <a:latin typeface="Calibri"/>
              </a:rPr>
              <a:t>What we don't know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83296" y="1051560"/>
            <a:ext cx="3611880" cy="4572000"/>
          </a:xfrm>
          <a:prstGeom prst="roundRect">
            <a:avLst>
              <a:gd name="adj" fmla="val 5000"/>
            </a:avLst>
          </a:prstGeom>
          <a:solidFill>
            <a:srgbClr val="EE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66175" y="1143000"/>
            <a:ext cx="3246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1B1B1B"/>
                </a:solidFill>
                <a:latin typeface="Calibri"/>
              </a:rPr>
              <a:t>What we recommend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37360"/>
            <a:ext cx="3246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1B1B1B"/>
                </a:solidFill>
                <a:latin typeface="Calibri"/>
              </a:rPr>
              <a:t>Across 1,485 tested monitoring-setting combinations, the S0–S3 ordering remained unchanged.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3246120"/>
            <a:ext cx="3337560" cy="1143000"/>
          </a:xfrm>
          <a:prstGeom prst="roundRect">
            <a:avLst>
              <a:gd name="adj" fmla="val 5000"/>
            </a:avLst>
          </a:prstGeom>
          <a:solidFill>
            <a:srgbClr val="FFF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33756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B1B1B"/>
                </a:solidFill>
                <a:latin typeface="Calibri"/>
              </a:rPr>
              <a:t>Internal threshold robustness, not independent validation.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53128" y="1737360"/>
            <a:ext cx="3246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1B1B1B"/>
                </a:solidFill>
                <a:latin typeface="Calibri"/>
              </a:rPr>
              <a:t>• All scenarios derive from one ~5-minute recording that also informed the design; there is no independent held-out evaluation.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B1B1B"/>
                </a:solidFill>
                <a:latin typeface="Calibri"/>
              </a:rPr>
              <a:t>• Whether the monitor and the model behave appropriately on unseen data.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5" y="1737360"/>
            <a:ext cx="3246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1B1B1B"/>
                </a:solidFill>
                <a:latin typeface="Calibri"/>
              </a:rPr>
              <a:t>• Provisional, limited use of the monitor until it is tested once on an independently recorded replay window.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B1B1B"/>
                </a:solidFill>
                <a:latin typeface="Calibri"/>
              </a:rPr>
              <a:t>• Do not automatically retrain on feature drift (S1): route it to a data-quality check.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B1B1B"/>
                </a:solidFill>
                <a:latin typeface="Calibri"/>
              </a:rPr>
              <a:t>• Re-evaluate the model on genuinely out-of-sample labeled data before changing thresholds, retraining or replacing 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B1B1B"/>
                </a:solidFill>
                <a:latin typeface="Open Sans"/>
              </a:rPr>
              <a:t>B3 Backup B1: Severity ladder and Tier 1 status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05840"/>
          <a:ext cx="1124712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4206240"/>
                <a:gridCol w="6035040"/>
              </a:tblGrid>
              <a:tr h="2286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B1B1B"/>
                          </a:solidFill>
                          <a:latin typeface="Calibri"/>
                        </a:rPr>
                        <a:t>Level</a:t>
                      </a:r>
                    </a:p>
                  </a:txBody>
                  <a:tcPr marL="54864" marR="54864" marT="18288" marB="18288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B1B1B"/>
                          </a:solidFill>
                          <a:latin typeface="Calibri"/>
                        </a:rPr>
                        <a:t>Triggered when (first matching rule wins)</a:t>
                      </a:r>
                    </a:p>
                  </a:txBody>
                  <a:tcPr marL="54864" marR="54864" marT="18288" marB="18288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B1B1B"/>
                          </a:solidFill>
                          <a:latin typeface="Calibri"/>
                        </a:rPr>
                        <a:t>Action</a:t>
                      </a:r>
                    </a:p>
                  </a:txBody>
                  <a:tcPr marL="54864" marR="54864" marT="18288" marB="18288">
                    <a:solidFill>
                      <a:srgbClr val="EEF3FA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B1B"/>
                          </a:solidFill>
                          <a:latin typeface="Calibri"/>
                        </a:rPr>
                        <a:t>PAGE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B1B"/>
                          </a:solidFill>
                          <a:latin typeface="Calibri"/>
                        </a:rPr>
                        <a:t>Tier 1 UNAVAILABLE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B1B"/>
                          </a:solidFill>
                          <a:latin typeface="Calibri"/>
                        </a:rPr>
                        <a:t>Page on-call; restore the service. Model checks are not trustworthy until it is healthy.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B1B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B1B"/>
                          </a:solidFill>
                          <a:latin typeface="Calibri"/>
                        </a:rPr>
                        <a:t>Alert rate doubles or halves (ratio 2x), or shifts by 20 percentage points or more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B1B"/>
                          </a:solidFill>
                          <a:latin typeface="Calibri"/>
                        </a:rPr>
                        <a:t>Escalate now to model owner and pipeline on-call; consider pausing alerts. Labeled evidence is needed to establish a performance problem; root-cause analysis determines whether retraining is appropriate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B1B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B1B"/>
                          </a:solidFill>
                          <a:latin typeface="Calibri"/>
                        </a:rPr>
                        <a:t>Score PSI 0.10 or more, or alert-rate shift above 5 percentage points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B1B"/>
                          </a:solidFill>
                          <a:latin typeface="Calibri"/>
                        </a:rPr>
                        <a:t>Investigate same day; notify model owner; no retraining unless labeled evidence establishes a performance problem and root-cause analysis supports retraining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B1B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B1B"/>
                          </a:solidFill>
                          <a:latin typeface="Calibri"/>
                        </a:rPr>
                        <a:t>Any feature PSI 0.10 or more, with no MEDIUM/HIGH condition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B1B"/>
                          </a:solidFill>
                          <a:latin typeface="Calibri"/>
                        </a:rPr>
                        <a:t>Data-quality ticket: real change or feed bug? No model action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B1B"/>
                          </a:solidFill>
                          <a:latin typeface="Calibri"/>
                        </a:rPr>
                        <a:t>OK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B1B"/>
                          </a:solidFill>
                          <a:latin typeface="Calibri"/>
                        </a:rPr>
                        <a:t>None of the above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B1B"/>
                          </a:solidFill>
                          <a:latin typeface="Calibri"/>
                        </a:rPr>
                        <a:t>No action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4069080"/>
          <a:ext cx="11247120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5486400"/>
                <a:gridCol w="4297680"/>
              </a:tblGrid>
              <a:tr h="2286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B1B1B"/>
                          </a:solidFill>
                          <a:latin typeface="Calibri"/>
                        </a:rPr>
                        <a:t>Tier 1 status</a:t>
                      </a:r>
                    </a:p>
                  </a:txBody>
                  <a:tcPr marL="54864" marR="54864" marT="18288" marB="18288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B1B1B"/>
                          </a:solidFill>
                          <a:latin typeface="Calibri"/>
                        </a:rPr>
                        <a:t>Meaning</a:t>
                      </a:r>
                    </a:p>
                  </a:txBody>
                  <a:tcPr marL="54864" marR="54864" marT="18288" marB="18288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B1B1B"/>
                          </a:solidFill>
                          <a:latin typeface="Calibri"/>
                        </a:rPr>
                        <a:t>Operational behavior</a:t>
                      </a:r>
                    </a:p>
                  </a:txBody>
                  <a:tcPr marL="54864" marR="54864" marT="18288" marB="18288">
                    <a:solidFill>
                      <a:srgbClr val="EEF3FA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B1B"/>
                          </a:solidFill>
                          <a:latin typeface="Calibri"/>
                        </a:rPr>
                        <a:t>HEALTHY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B1B"/>
                          </a:solidFill>
                          <a:latin typeface="Calibri"/>
                        </a:rPr>
                        <a:t>/health ok, model loaded, every attempted /score request produced a prediction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B1B"/>
                          </a:solidFill>
                          <a:latin typeface="Calibri"/>
                        </a:rPr>
                        <a:t>Proceed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B1B"/>
                          </a:solidFill>
                          <a:latin typeface="Calibri"/>
                        </a:rPr>
                        <a:t>DEGRADED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B1B"/>
                          </a:solidFill>
                          <a:latin typeface="Calibri"/>
                        </a:rPr>
                        <a:t>/health ok and at least one prediction produced, but one or more /score requests failed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B1B"/>
                          </a:solidFill>
                          <a:latin typeface="Calibri"/>
                        </a:rPr>
                        <a:t>Reported as a serving/reliability issue; not a drift severity; no paging cutoff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B1B"/>
                          </a:solidFill>
                          <a:latin typeface="Calibri"/>
                        </a:rPr>
                        <a:t>UNAVAILABLE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B1B"/>
                          </a:solidFill>
                          <a:latin typeface="Calibri"/>
                        </a:rPr>
                        <a:t>/health fails, the model is not loaded, or no /score request produced a prediction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B1B"/>
                          </a:solidFill>
                          <a:latin typeface="Calibri"/>
                        </a:rPr>
                        <a:t>PAGE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B1B"/>
                          </a:solidFill>
                          <a:latin typeface="Calibri"/>
                        </a:rPr>
                        <a:t>NOT_CHECKED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B1B"/>
                          </a:solidFill>
                          <a:latin typeface="Calibri"/>
                        </a:rPr>
                        <a:t>Tier 1 skipped (--no_api)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B1B"/>
                          </a:solidFill>
                          <a:latin typeface="Calibri"/>
                        </a:rPr>
                        <a:t>Tier 1 was not evaluated; this does not mean healthy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B1B1B"/>
                </a:solidFill>
                <a:latin typeface="Open Sans"/>
              </a:rPr>
              <a:t>B3 Backup B2: Tier 3 exploratory lift intervals</a:t>
            </a:r>
          </a:p>
        </p:txBody>
      </p:sp>
      <p:pic>
        <p:nvPicPr>
          <p:cNvPr id="3" name="Picture 2" descr="fig_c_fit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760" y="914400"/>
            <a:ext cx="9144000" cy="41563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08760" y="51206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555555"/>
                </a:solidFill>
                <a:latin typeface="Calibri"/>
              </a:rPr>
              <a:t>Above-baseline performance is not established on the available data.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B1B1B"/>
                </a:solidFill>
                <a:latin typeface="Open Sans"/>
              </a:rPr>
              <a:t>B3 Backup B3: Where each setting comes from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05840"/>
          <a:ext cx="1124712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011680"/>
                <a:gridCol w="6858000"/>
              </a:tblGrid>
              <a:tr h="2286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B1B1B"/>
                          </a:solidFill>
                          <a:latin typeface="Calibri"/>
                        </a:rPr>
                        <a:t>Setting</a:t>
                      </a:r>
                    </a:p>
                  </a:txBody>
                  <a:tcPr marL="54864" marR="54864" marT="18288" marB="18288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B1B1B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L="54864" marR="54864" marT="18288" marB="18288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B1B1B"/>
                          </a:solidFill>
                          <a:latin typeface="Calibri"/>
                        </a:rPr>
                        <a:t>Provenance</a:t>
                      </a:r>
                    </a:p>
                  </a:txBody>
                  <a:tcPr marL="54864" marR="54864" marT="18288" marB="18288">
                    <a:solidFill>
                      <a:srgbClr val="EEF3FA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B1B"/>
                          </a:solidFill>
                          <a:latin typeface="Calibri"/>
                        </a:rPr>
                        <a:t>Alert threshold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B1B"/>
                          </a:solidFill>
                          <a:latin typeface="Calibri"/>
                        </a:rPr>
                        <a:t>0.5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B1B"/>
                          </a:solidFill>
                          <a:latin typeface="Calibri"/>
                        </a:rPr>
                        <a:t>Supplied code (score_service.py)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B1B"/>
                          </a:solidFill>
                          <a:latin typeface="Calibri"/>
                        </a:rPr>
                        <a:t>Spike label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B1B"/>
                          </a:solidFill>
                          <a:latin typeface="Calibri"/>
                        </a:rPr>
                        <a:t>90th percentile, 20-row horizon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B1B"/>
                          </a:solidFill>
                          <a:latin typeface="Calibri"/>
                        </a:rPr>
                        <a:t>Supplied code (label_spikes defaults)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B1B"/>
                          </a:solidFill>
                          <a:latin typeface="Calibri"/>
                        </a:rPr>
                        <a:t>Operational PSI threshold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B1B"/>
                          </a:solidFill>
                          <a:latin typeface="Calibri"/>
                        </a:rPr>
                        <a:t>0.10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B1B"/>
                          </a:solidFill>
                          <a:latin typeface="Calibri"/>
                        </a:rPr>
                        <a:t>Externally sourced heuristic: conventional PSI band originating in credit-scorecard practice (Lewis 1994, as traced by Potgieter et al. 2026); not a universal statistically calibrated threshold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B1B"/>
                          </a:solidFill>
                          <a:latin typeface="Calibri"/>
                        </a:rPr>
                        <a:t>PSI reference band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B1B"/>
                          </a:solidFill>
                          <a:latin typeface="Calibri"/>
                        </a:rPr>
                        <a:t>0.25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B1B"/>
                          </a:solidFill>
                          <a:latin typeface="Calibri"/>
                        </a:rPr>
                        <a:t>Same source; descriptive/figure line only; does not independently determine severity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B1B"/>
                          </a:solidFill>
                          <a:latin typeface="Calibri"/>
                        </a:rPr>
                        <a:t>PSI bins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B1B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B1B"/>
                          </a:solidFill>
                          <a:latin typeface="Calibri"/>
                        </a:rPr>
                        <a:t>Matches Feature-engine's current default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B1B"/>
                          </a:solidFill>
                          <a:latin typeface="Calibri"/>
                        </a:rPr>
                        <a:t>PSI empty-bin handling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B1B"/>
                          </a:solidFill>
                          <a:latin typeface="Calibri"/>
                        </a:rPr>
                        <a:t>0.0001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B1B"/>
                          </a:solidFill>
                          <a:latin typeface="Calibri"/>
                        </a:rPr>
                        <a:t>Our monitor uses the same numeric constant, 0.0001, but a different implementation: Feature-engine replaces/adds the constant for empty or zero bins, whereas our psi() floors bin proportions at that minimum.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B1B"/>
                          </a:solidFill>
                          <a:latin typeface="Calibri"/>
                        </a:rPr>
                        <a:t>MEDIUM alert shift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B1B"/>
                          </a:solidFill>
                          <a:latin typeface="Calibri"/>
                        </a:rPr>
                        <a:t>5 pp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B1B"/>
                          </a:solidFill>
                          <a:latin typeface="Calibri"/>
                        </a:rPr>
                        <a:t>AI-proposed project-specific threshold, accepted by owner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B1B"/>
                          </a:solidFill>
                          <a:latin typeface="Calibri"/>
                        </a:rPr>
                        <a:t>HIGH alert shift / ratio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B1B"/>
                          </a:solidFill>
                          <a:latin typeface="Calibri"/>
                        </a:rPr>
                        <a:t>20 pp / 2x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B1B"/>
                          </a:solidFill>
                          <a:latin typeface="Calibri"/>
                        </a:rPr>
                        <a:t>AI-proposed project-specific thresholds, accepted by owner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B1B"/>
                          </a:solidFill>
                          <a:latin typeface="Calibri"/>
                        </a:rPr>
                        <a:t>KS p-value; dataset-drift share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B1B"/>
                          </a:solidFill>
                          <a:latin typeface="Calibri"/>
                        </a:rPr>
                        <a:t>0.05; 50%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B1B"/>
                          </a:solidFill>
                          <a:latin typeface="Calibri"/>
                        </a:rPr>
                        <a:t>Evidently defaults, used for the baseline comparison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B1B"/>
                          </a:solidFill>
                          <a:latin typeface="Calibri"/>
                        </a:rPr>
                        <a:t>Bootstrap resamples; seed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B1B"/>
                          </a:solidFill>
                          <a:latin typeface="Calibri"/>
                        </a:rPr>
                        <a:t>1000; 0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B1B"/>
                          </a:solidFill>
                          <a:latin typeface="Calibri"/>
                        </a:rPr>
                        <a:t>AI-selected exploratory implementation choices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B1B1B"/>
                </a:solidFill>
                <a:latin typeface="Open Sans"/>
              </a:rPr>
              <a:t>B3 Backup B4: AI supervision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1B1B1B"/>
                </a:solidFill>
                <a:latin typeface="Calibri"/>
              </a:rPr>
              <a:t>1. Split-half explanation: wrong twice, caught by measurement. </a:t>
            </a:r>
            <a:r>
              <a:rPr sz="1500" b="0">
                <a:solidFill>
                  <a:srgbClr val="1B1B1B"/>
                </a:solidFill>
                <a:latin typeface="Calibri"/>
              </a:rPr>
              <a:t>(a) AI assistance contributed the causal interpretation that the split-half flags came in part from the 60-second rolling feature window (the interim states that "part of this comes from the featurizer itself" and treated the split-half as an unchanged control). Subsequent diagnosis showed the rolling-window mechanism was real, but the conclusion that the comparison was a false alarm was wrong; (b) "the message rate roughly triples after a 171 s gap" was wrong: b3_diagnosis.py measured 4.92 vs 4.74 messages per second. Outcome: (b) removed everywhere; S2 kept as a real change with the corrected cause.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1B1B1B"/>
                </a:solidFill>
                <a:latin typeface="Calibri"/>
              </a:rPr>
              <a:t>2. Operational thresholds: accepted provisionally, then stress-tested. </a:t>
            </a:r>
            <a:r>
              <a:rPr sz="1500" b="0">
                <a:solidFill>
                  <a:srgbClr val="1B1B1B"/>
                </a:solidFill>
                <a:latin typeface="Calibri"/>
              </a:rPr>
              <a:t>Proposed: candidate alert-rate thresholds (5 pp for MEDIUM; 2x or 20 pp for HIGH) and prediction drift alone deciding HIGH. Response: the owner replaced "prediction drift decides" with the graded structure and kept score PSI alone at MEDIUM; the numbers were accepted as project-specific settings, not standards. Checked: the frozen monitor was rerun across 1,485 setting combinations and the S0-S3 ordering remained unchanged. This tests dependence on parameter choices; it does not independently validate monitor generalization.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555555"/>
                </a:solidFill>
                <a:latin typeface="Calibri"/>
              </a:rPr>
              <a:t>Scope: </a:t>
            </a:r>
            <a:r>
              <a:rPr sz="1500" b="0">
                <a:solidFill>
                  <a:srgbClr val="555555"/>
                </a:solidFill>
                <a:latin typeface="Calibri"/>
              </a:rPr>
              <a:t>the interim already established the high-level hypothesis; the AI assistant did not originate the B3 research question or hypothesis.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